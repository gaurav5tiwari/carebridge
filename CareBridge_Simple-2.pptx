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1F6F64"/>
          </a:solidFill>
          <a:ln/>
        </p:spPr>
      </p:sp>
      <p:sp>
        <p:nvSpPr>
          <p:cNvPr id="3" name="Shape 1"/>
          <p:cNvSpPr/>
          <p:nvPr/>
        </p:nvSpPr>
        <p:spPr>
          <a:xfrm>
            <a:off x="9811512" y="-1463040"/>
            <a:ext cx="3291840" cy="3291840"/>
          </a:xfrm>
          <a:prstGeom prst="ellipse">
            <a:avLst/>
          </a:prstGeom>
          <a:solidFill>
            <a:srgbClr val="E7F1EF"/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5029200"/>
            <a:ext cx="2743200" cy="2743200"/>
          </a:xfrm>
          <a:prstGeom prst="ellipse">
            <a:avLst/>
          </a:prstGeom>
          <a:solidFill>
            <a:srgbClr val="E7F1E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1F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VIRTUAL INTERNSHIP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71907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Title: Well-Being and Good Health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249424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CareBridge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280160" y="314553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Early Triage &amp; Health Guidance for Underserved Communities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641848" y="3767328"/>
            <a:ext cx="914400" cy="27432"/>
          </a:xfrm>
          <a:prstGeom prst="rect">
            <a:avLst/>
          </a:prstGeom>
          <a:solidFill>
            <a:srgbClr val="1F6F6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00507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Gaurav Tiwari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22960" y="4352544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Computer Science (BCA Hons)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468172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College: Babasaheb Bhimrao Ambedkar University, Lucknow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collaboration with IBM SkillsBuild &amp; AICTE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563624" cy="292608"/>
          </a:xfrm>
          <a:prstGeom prst="roundRect">
            <a:avLst>
              <a:gd name="adj" fmla="val 50000"/>
            </a:avLst>
          </a:prstGeom>
          <a:solidFill>
            <a:srgbClr val="E7F1E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That Arrives Too Late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444752"/>
            <a:ext cx="457200" cy="41148"/>
          </a:xfrm>
          <a:prstGeom prst="rect">
            <a:avLst/>
          </a:prstGeom>
          <a:solidFill>
            <a:srgbClr val="1F6F6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6364224"/>
            <a:ext cx="10725912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Virtual Internship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0023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755648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rural and semi-urban India, the nearest doctor is often hours away, and the first point of contact is an overworked ASHA or community health worker.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signs of common conditions — high blood pressure, diabetes, anaemia in pregnancy, early TB — often go unnoticed until they become emergencies.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00900" y="1755648"/>
            <a:ext cx="0" cy="420624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60920" y="1755648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F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FEELS THIS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60920" y="2194560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&amp; semi-urban patients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60920" y="2505456"/>
            <a:ext cx="40965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care because they can't tell if a symptom is serious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60920" y="3136392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 &amp; community health workers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60920" y="3447288"/>
            <a:ext cx="40965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stretched thin, tracking hundreds of households alone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60920" y="4078224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Health Centres (PHCs)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60920" y="4389120"/>
            <a:ext cx="40965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flooded with cases that could have been triaged earlier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60920" y="5020056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60920" y="5330952"/>
            <a:ext cx="40965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loved ones to conditions that were treatable in time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764792" cy="292608"/>
          </a:xfrm>
          <a:prstGeom prst="roundRect">
            <a:avLst>
              <a:gd name="adj" fmla="val 50000"/>
            </a:avLst>
          </a:prstGeom>
          <a:solidFill>
            <a:srgbClr val="E7F1E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76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ALIGNMENT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in Two UN Sustainable Development Goals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444752"/>
            <a:ext cx="457200" cy="41148"/>
          </a:xfrm>
          <a:prstGeom prst="rect">
            <a:avLst/>
          </a:prstGeom>
          <a:solidFill>
            <a:srgbClr val="1F6F6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6364224"/>
            <a:ext cx="10725912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Virtual Internship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0023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801368"/>
            <a:ext cx="566928" cy="566928"/>
          </a:xfrm>
          <a:prstGeom prst="ellipse">
            <a:avLst/>
          </a:prstGeom>
          <a:solidFill>
            <a:srgbClr val="1F6F6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01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64" dirty="0"/>
          </a:p>
        </p:txBody>
      </p:sp>
      <p:sp>
        <p:nvSpPr>
          <p:cNvPr id="11" name="Text 9"/>
          <p:cNvSpPr/>
          <p:nvPr/>
        </p:nvSpPr>
        <p:spPr>
          <a:xfrm>
            <a:off x="1508760" y="1801368"/>
            <a:ext cx="43113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Health &amp; Well-being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508760" y="2121408"/>
            <a:ext cx="4311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goal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2670048"/>
            <a:ext cx="50886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CareBridge gives frontline workers and patients a fast, judgment-free first check, so genuine emergencies reach a doctor sooner.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68796" y="1801368"/>
            <a:ext cx="566928" cy="566928"/>
          </a:xfrm>
          <a:prstGeom prst="ellipse">
            <a:avLst/>
          </a:prstGeom>
          <a:solidFill>
            <a:srgbClr val="1F6F64"/>
          </a:solidFill>
          <a:ln/>
        </p:spPr>
      </p:sp>
      <p:sp>
        <p:nvSpPr>
          <p:cNvPr id="15" name="Text 13"/>
          <p:cNvSpPr/>
          <p:nvPr/>
        </p:nvSpPr>
        <p:spPr>
          <a:xfrm>
            <a:off x="6368796" y="1801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64" dirty="0"/>
          </a:p>
        </p:txBody>
      </p:sp>
      <p:sp>
        <p:nvSpPr>
          <p:cNvPr id="16" name="Text 14"/>
          <p:cNvSpPr/>
          <p:nvPr/>
        </p:nvSpPr>
        <p:spPr>
          <a:xfrm>
            <a:off x="7146036" y="1801368"/>
            <a:ext cx="43113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Inequalities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146036" y="2121408"/>
            <a:ext cx="4311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goal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68796" y="2670048"/>
            <a:ext cx="50886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voice-first, multilingual assistant brings the same first-line health guidance to rural and low-income communities that urban users already have.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094476" y="1755648"/>
            <a:ext cx="0" cy="210312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7F1E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AI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Actually Does the 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444752"/>
            <a:ext cx="457200" cy="41148"/>
          </a:xfrm>
          <a:prstGeom prst="rect">
            <a:avLst/>
          </a:prstGeom>
          <a:solidFill>
            <a:srgbClr val="1F6F6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6364224"/>
            <a:ext cx="10725912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Virtual Internship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0023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847088"/>
            <a:ext cx="420624" cy="420624"/>
          </a:xfrm>
          <a:prstGeom prst="ellipse">
            <a:avLst/>
          </a:prstGeom>
          <a:solidFill>
            <a:srgbClr val="1F6F6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12" dirty="0"/>
          </a:p>
        </p:txBody>
      </p:sp>
      <p:sp>
        <p:nvSpPr>
          <p:cNvPr id="11" name="Text 9"/>
          <p:cNvSpPr/>
          <p:nvPr/>
        </p:nvSpPr>
        <p:spPr>
          <a:xfrm>
            <a:off x="1325880" y="1828800"/>
            <a:ext cx="44942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triage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31520" y="2414016"/>
            <a:ext cx="50886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urgency as Routine, Monitor, or Seek Care Urgently.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68796" y="1847088"/>
            <a:ext cx="420624" cy="420624"/>
          </a:xfrm>
          <a:prstGeom prst="ellipse">
            <a:avLst/>
          </a:prstGeom>
          <a:solidFill>
            <a:srgbClr val="1F6F64"/>
          </a:solidFill>
          <a:ln/>
        </p:spPr>
      </p:sp>
      <p:sp>
        <p:nvSpPr>
          <p:cNvPr id="14" name="Text 12"/>
          <p:cNvSpPr/>
          <p:nvPr/>
        </p:nvSpPr>
        <p:spPr>
          <a:xfrm>
            <a:off x="6368796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12" dirty="0"/>
          </a:p>
        </p:txBody>
      </p:sp>
      <p:sp>
        <p:nvSpPr>
          <p:cNvPr id="15" name="Text 13"/>
          <p:cNvSpPr/>
          <p:nvPr/>
        </p:nvSpPr>
        <p:spPr>
          <a:xfrm>
            <a:off x="6963156" y="1828800"/>
            <a:ext cx="44942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conversation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368796" y="2414016"/>
            <a:ext cx="50886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symptoms in regional languages or mixed Hindi-English.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767328"/>
            <a:ext cx="420624" cy="420624"/>
          </a:xfrm>
          <a:prstGeom prst="ellipse">
            <a:avLst/>
          </a:prstGeom>
          <a:solidFill>
            <a:srgbClr val="1F6F64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67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12" dirty="0"/>
          </a:p>
        </p:txBody>
      </p:sp>
      <p:sp>
        <p:nvSpPr>
          <p:cNvPr id="19" name="Text 17"/>
          <p:cNvSpPr/>
          <p:nvPr/>
        </p:nvSpPr>
        <p:spPr>
          <a:xfrm>
            <a:off x="1325880" y="3749040"/>
            <a:ext cx="44942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Guideline-grounded answers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31520" y="4334256"/>
            <a:ext cx="50886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is grounded in WHO / ICMR guidance and cites the source.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68796" y="3767328"/>
            <a:ext cx="420624" cy="420624"/>
          </a:xfrm>
          <a:prstGeom prst="ellipse">
            <a:avLst/>
          </a:prstGeom>
          <a:solidFill>
            <a:srgbClr val="1F6F64"/>
          </a:solidFill>
          <a:ln/>
        </p:spPr>
      </p:sp>
      <p:sp>
        <p:nvSpPr>
          <p:cNvPr id="22" name="Text 20"/>
          <p:cNvSpPr/>
          <p:nvPr/>
        </p:nvSpPr>
        <p:spPr>
          <a:xfrm>
            <a:off x="6368796" y="3767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12" dirty="0"/>
          </a:p>
        </p:txBody>
      </p:sp>
      <p:sp>
        <p:nvSpPr>
          <p:cNvPr id="23" name="Text 21"/>
          <p:cNvSpPr/>
          <p:nvPr/>
        </p:nvSpPr>
        <p:spPr>
          <a:xfrm>
            <a:off x="6963156" y="3749040"/>
            <a:ext cx="44942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Health-worker handoff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368796" y="4334256"/>
            <a:ext cx="50886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conversation into a short structured note for the ASHA worker or PHC.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569464" cy="292608"/>
          </a:xfrm>
          <a:prstGeom prst="roundRect">
            <a:avLst>
              <a:gd name="adj" fmla="val 50000"/>
            </a:avLst>
          </a:prstGeom>
          <a:solidFill>
            <a:srgbClr val="E7F1E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444752"/>
            <a:ext cx="457200" cy="41148"/>
          </a:xfrm>
          <a:prstGeom prst="rect">
            <a:avLst/>
          </a:prstGeom>
          <a:solidFill>
            <a:srgbClr val="1F6F6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6364224"/>
            <a:ext cx="10725912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Virtual Internship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0023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801368"/>
            <a:ext cx="365760" cy="365760"/>
          </a:xfrm>
          <a:prstGeom prst="ellipse">
            <a:avLst/>
          </a:prstGeom>
          <a:solidFill>
            <a:srgbClr val="1F6F6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1280160" y="1773936"/>
            <a:ext cx="10177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describes symptoms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voice or text, in their own language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2185416"/>
            <a:ext cx="0" cy="182880"/>
          </a:xfrm>
          <a:prstGeom prst="line">
            <a:avLst/>
          </a:prstGeom>
          <a:noFill/>
          <a:ln w="15875">
            <a:solidFill>
              <a:srgbClr val="E2E2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368296"/>
            <a:ext cx="365760" cy="365760"/>
          </a:xfrm>
          <a:prstGeom prst="ellipse">
            <a:avLst/>
          </a:prstGeom>
          <a:solidFill>
            <a:srgbClr val="1F6F6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368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1280160" y="2340864"/>
            <a:ext cx="10177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triages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symptoms against verified clinical guidelines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2752344"/>
            <a:ext cx="0" cy="182880"/>
          </a:xfrm>
          <a:prstGeom prst="line">
            <a:avLst/>
          </a:prstGeom>
          <a:noFill/>
          <a:ln w="15875">
            <a:solidFill>
              <a:srgbClr val="E2E2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2935224"/>
            <a:ext cx="365760" cy="365760"/>
          </a:xfrm>
          <a:prstGeom prst="ellipse">
            <a:avLst/>
          </a:prstGeom>
          <a:solidFill>
            <a:srgbClr val="1F6F64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935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1280160" y="2907792"/>
            <a:ext cx="10177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is returned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language, with a citation to the source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3319272"/>
            <a:ext cx="0" cy="182880"/>
          </a:xfrm>
          <a:prstGeom prst="line">
            <a:avLst/>
          </a:prstGeom>
          <a:noFill/>
          <a:ln w="15875">
            <a:solidFill>
              <a:srgbClr val="E2E2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502152"/>
            <a:ext cx="365760" cy="365760"/>
          </a:xfrm>
          <a:prstGeom prst="ellipse">
            <a:avLst/>
          </a:prstGeom>
          <a:solidFill>
            <a:srgbClr val="1F6F64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502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1280160" y="3474720"/>
            <a:ext cx="10177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cases are flagged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to the nearest ASHA worker or PHC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4400" y="3886200"/>
            <a:ext cx="0" cy="182880"/>
          </a:xfrm>
          <a:prstGeom prst="line">
            <a:avLst/>
          </a:prstGeom>
          <a:noFill/>
          <a:ln w="15875">
            <a:solidFill>
              <a:srgbClr val="E2E2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069080"/>
            <a:ext cx="365760" cy="365760"/>
          </a:xfrm>
          <a:prstGeom prst="ellipse">
            <a:avLst/>
          </a:prstGeom>
          <a:solidFill>
            <a:srgbClr val="1F6F64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1280160" y="4041648"/>
            <a:ext cx="10177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worker reviews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and decides the next step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1520" y="4837176"/>
            <a:ext cx="10725912" cy="731520"/>
          </a:xfrm>
          <a:prstGeom prst="roundRect">
            <a:avLst>
              <a:gd name="adj" fmla="val 10000"/>
            </a:avLst>
          </a:prstGeom>
          <a:solidFill>
            <a:srgbClr val="E7F1EF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4837176"/>
            <a:ext cx="10268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CareBridge never diagnoses. It only classifies urgency and points to verified guidance — a human health worker always makes the final call.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066544" cy="292608"/>
          </a:xfrm>
          <a:prstGeom prst="roundRect">
            <a:avLst>
              <a:gd name="adj" fmla="val 50000"/>
            </a:avLst>
          </a:prstGeom>
          <a:solidFill>
            <a:srgbClr val="E7F1E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/ DEMO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Triage Prompt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444752"/>
            <a:ext cx="457200" cy="41148"/>
          </a:xfrm>
          <a:prstGeom prst="rect">
            <a:avLst/>
          </a:prstGeom>
          <a:solidFill>
            <a:srgbClr val="1F6F6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6364224"/>
            <a:ext cx="10725912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Virtual Internship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0023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755648"/>
            <a:ext cx="10725912" cy="1051560"/>
          </a:xfrm>
          <a:prstGeom prst="roundRect">
            <a:avLst>
              <a:gd name="adj" fmla="val 6957"/>
            </a:avLst>
          </a:prstGeom>
          <a:solidFill>
            <a:srgbClr val="E7F1EF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755648"/>
            <a:ext cx="10268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F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prompt: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are a health triage assistant, not a diagnostic tool. Classify urgency as Routine, Monitor, or Seek Care Urgently, explain your reasoning, and cite the guideline used. Never state a diagnosis.”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081528"/>
            <a:ext cx="5134356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218688"/>
            <a:ext cx="473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F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32688" y="3520440"/>
            <a:ext cx="47320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mother is 6 months pregnant. Since yesterday her hands and feet are swollen, and she has a bad headache that won't go away.”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23076" y="3081528"/>
            <a:ext cx="5134356" cy="1508760"/>
          </a:xfrm>
          <a:prstGeom prst="roundRect">
            <a:avLst>
              <a:gd name="adj" fmla="val 4848"/>
            </a:avLst>
          </a:prstGeom>
          <a:solidFill>
            <a:srgbClr val="1F6F64"/>
          </a:solidFill>
          <a:ln/>
        </p:spPr>
      </p:sp>
      <p:sp>
        <p:nvSpPr>
          <p:cNvPr id="15" name="Text 13"/>
          <p:cNvSpPr/>
          <p:nvPr/>
        </p:nvSpPr>
        <p:spPr>
          <a:xfrm>
            <a:off x="6524244" y="3218688"/>
            <a:ext cx="473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24244" y="3520440"/>
            <a:ext cx="47320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Urgency: Seek Care Urgently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Preeclampsia risk cited per ICMR Maternal Health Guidelines, Sec. 4.2.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the nearest PHC or contact your ASHA worker today.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818888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into Step 2 of the solution pipeline before a case is escalated.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865376" cy="292608"/>
          </a:xfrm>
          <a:prstGeom prst="roundRect">
            <a:avLst>
              <a:gd name="adj" fmla="val 50000"/>
            </a:avLst>
          </a:prstGeom>
          <a:solidFill>
            <a:srgbClr val="E7F1E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Be Fair, Explainable, and Private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444752"/>
            <a:ext cx="457200" cy="41148"/>
          </a:xfrm>
          <a:prstGeom prst="rect">
            <a:avLst/>
          </a:prstGeom>
          <a:solidFill>
            <a:srgbClr val="1F6F6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6364224"/>
            <a:ext cx="10725912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Virtual Internship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0023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847088"/>
            <a:ext cx="420624" cy="420624"/>
          </a:xfrm>
          <a:prstGeom prst="ellipse">
            <a:avLst/>
          </a:prstGeom>
          <a:solidFill>
            <a:srgbClr val="E7F1EF"/>
          </a:solidFill>
          <a:ln w="12700">
            <a:solidFill>
              <a:srgbClr val="1F6F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2" b="1" dirty="0">
                <a:solidFill>
                  <a:srgbClr val="1F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12" dirty="0"/>
          </a:p>
        </p:txBody>
      </p:sp>
      <p:sp>
        <p:nvSpPr>
          <p:cNvPr id="11" name="Text 9"/>
          <p:cNvSpPr/>
          <p:nvPr/>
        </p:nvSpPr>
        <p:spPr>
          <a:xfrm>
            <a:off x="1325880" y="1828800"/>
            <a:ext cx="44942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31520" y="2414016"/>
            <a:ext cx="50886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regional-language and voice input, so literacy isn't a barrier.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68796" y="1847088"/>
            <a:ext cx="420624" cy="420624"/>
          </a:xfrm>
          <a:prstGeom prst="ellipse">
            <a:avLst/>
          </a:prstGeom>
          <a:solidFill>
            <a:srgbClr val="E7F1EF"/>
          </a:solidFill>
          <a:ln w="12700">
            <a:solidFill>
              <a:srgbClr val="1F6F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8796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2" b="1" dirty="0">
                <a:solidFill>
                  <a:srgbClr val="1F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12" dirty="0"/>
          </a:p>
        </p:txBody>
      </p:sp>
      <p:sp>
        <p:nvSpPr>
          <p:cNvPr id="15" name="Text 13"/>
          <p:cNvSpPr/>
          <p:nvPr/>
        </p:nvSpPr>
        <p:spPr>
          <a:xfrm>
            <a:off x="6963156" y="1828800"/>
            <a:ext cx="44942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368796" y="2414016"/>
            <a:ext cx="50886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names its urgency level and the exact guideline behind it.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767328"/>
            <a:ext cx="420624" cy="420624"/>
          </a:xfrm>
          <a:prstGeom prst="ellipse">
            <a:avLst/>
          </a:prstGeom>
          <a:solidFill>
            <a:srgbClr val="E7F1EF"/>
          </a:solidFill>
          <a:ln w="12700">
            <a:solidFill>
              <a:srgbClr val="1F6F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767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2" b="1" dirty="0">
                <a:solidFill>
                  <a:srgbClr val="1F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12" dirty="0"/>
          </a:p>
        </p:txBody>
      </p:sp>
      <p:sp>
        <p:nvSpPr>
          <p:cNvPr id="19" name="Text 17"/>
          <p:cNvSpPr/>
          <p:nvPr/>
        </p:nvSpPr>
        <p:spPr>
          <a:xfrm>
            <a:off x="1325880" y="3749040"/>
            <a:ext cx="44942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31520" y="4334256"/>
            <a:ext cx="50886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diagnoses or prescribes treatment. Anything urgent goes to a human.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68796" y="3767328"/>
            <a:ext cx="420624" cy="420624"/>
          </a:xfrm>
          <a:prstGeom prst="ellipse">
            <a:avLst/>
          </a:prstGeom>
          <a:solidFill>
            <a:srgbClr val="E7F1EF"/>
          </a:solidFill>
          <a:ln w="12700">
            <a:solidFill>
              <a:srgbClr val="1F6F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8796" y="3767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2" b="1" dirty="0">
                <a:solidFill>
                  <a:srgbClr val="1F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012" dirty="0"/>
          </a:p>
        </p:txBody>
      </p:sp>
      <p:sp>
        <p:nvSpPr>
          <p:cNvPr id="23" name="Text 21"/>
          <p:cNvSpPr/>
          <p:nvPr/>
        </p:nvSpPr>
        <p:spPr>
          <a:xfrm>
            <a:off x="6963156" y="3749040"/>
            <a:ext cx="44942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368796" y="4334256"/>
            <a:ext cx="50886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only what's needed for follow-up; access limited to the assigned health worker.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E7F1E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If This Gets Built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444752"/>
            <a:ext cx="457200" cy="41148"/>
          </a:xfrm>
          <a:prstGeom prst="rect">
            <a:avLst/>
          </a:prstGeom>
          <a:solidFill>
            <a:srgbClr val="1F6F6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6364224"/>
            <a:ext cx="10725912" cy="0"/>
          </a:xfrm>
          <a:prstGeom prst="line">
            <a:avLst/>
          </a:prstGeom>
          <a:noFill/>
          <a:ln w="9525">
            <a:solidFill>
              <a:srgbClr val="E2E2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Virtual Internship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0023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847088"/>
            <a:ext cx="2475738" cy="54864"/>
          </a:xfrm>
          <a:prstGeom prst="rect">
            <a:avLst/>
          </a:prstGeom>
          <a:solidFill>
            <a:srgbClr val="1F6F6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48256"/>
            <a:ext cx="2475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247573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fast, judgment-free first check instead of guessing or waiting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81578" y="1847088"/>
            <a:ext cx="2475738" cy="54864"/>
          </a:xfrm>
          <a:prstGeom prst="rect">
            <a:avLst/>
          </a:prstGeom>
          <a:solidFill>
            <a:srgbClr val="1F6F64"/>
          </a:solidFill>
          <a:ln/>
        </p:spPr>
      </p:sp>
      <p:sp>
        <p:nvSpPr>
          <p:cNvPr id="13" name="Text 11"/>
          <p:cNvSpPr/>
          <p:nvPr/>
        </p:nvSpPr>
        <p:spPr>
          <a:xfrm>
            <a:off x="3481578" y="2048256"/>
            <a:ext cx="2475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 workers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481578" y="2560320"/>
            <a:ext cx="247573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their limited time on the households that truly need a visit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31636" y="1847088"/>
            <a:ext cx="2475738" cy="54864"/>
          </a:xfrm>
          <a:prstGeom prst="rect">
            <a:avLst/>
          </a:prstGeom>
          <a:solidFill>
            <a:srgbClr val="1F6F64"/>
          </a:solidFill>
          <a:ln/>
        </p:spPr>
      </p:sp>
      <p:sp>
        <p:nvSpPr>
          <p:cNvPr id="16" name="Text 14"/>
          <p:cNvSpPr/>
          <p:nvPr/>
        </p:nvSpPr>
        <p:spPr>
          <a:xfrm>
            <a:off x="6231636" y="2048256"/>
            <a:ext cx="2475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231636" y="2560320"/>
            <a:ext cx="247573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better-triaged cases with a ready summary, saving consultation time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981694" y="1847088"/>
            <a:ext cx="2475738" cy="54864"/>
          </a:xfrm>
          <a:prstGeom prst="rect">
            <a:avLst/>
          </a:prstGeom>
          <a:solidFill>
            <a:srgbClr val="1F6F64"/>
          </a:solidFill>
          <a:ln/>
        </p:spPr>
      </p:sp>
      <p:sp>
        <p:nvSpPr>
          <p:cNvPr id="19" name="Text 17"/>
          <p:cNvSpPr/>
          <p:nvPr/>
        </p:nvSpPr>
        <p:spPr>
          <a:xfrm>
            <a:off x="8981694" y="2048256"/>
            <a:ext cx="2475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981694" y="2560320"/>
            <a:ext cx="247573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treatable conditions earlier, before they become emergencies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1F6F64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280160"/>
            <a:ext cx="2926080" cy="2926080"/>
          </a:xfrm>
          <a:prstGeom prst="ellipse">
            <a:avLst/>
          </a:prstGeom>
          <a:solidFill>
            <a:srgbClr val="E7F1EF"/>
          </a:solidFill>
          <a:ln/>
        </p:spPr>
      </p:sp>
      <p:sp>
        <p:nvSpPr>
          <p:cNvPr id="4" name="Shape 2"/>
          <p:cNvSpPr/>
          <p:nvPr/>
        </p:nvSpPr>
        <p:spPr>
          <a:xfrm>
            <a:off x="10360152" y="5029200"/>
            <a:ext cx="2560320" cy="2560320"/>
          </a:xfrm>
          <a:prstGeom prst="ellipse">
            <a:avLst/>
          </a:prstGeom>
          <a:solidFill>
            <a:srgbClr val="E7F1E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1F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2103120"/>
            <a:ext cx="9784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doesn't try to replace a doctor.</a:t>
            </a:r>
            <a:endParaRPr lang="en-US" sz="2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tries to make sure fewer people wait too long to see one.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828800" y="3703320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CareBridge is a small, focused answer to a real gap — built with the AI and design-thinking tools from this internship, and grounded in what's feasible for a first version: verified guidance, clear escalation, and a human health worker always in the loop.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41848" y="4892040"/>
            <a:ext cx="914400" cy="32004"/>
          </a:xfrm>
          <a:prstGeom prst="rect">
            <a:avLst/>
          </a:prstGeom>
          <a:solidFill>
            <a:srgbClr val="1F6F6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Tiwari — B.C.A. (Hons), Computer Science — Babasaheb Bhimrao Ambedkar University, Lucknow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2026-09-21T04:58:35Z</dcterms:created>
  <dcterms:modified xsi:type="dcterms:W3CDTF">2026-09-21T04:58:35Z</dcterms:modified>
</cp:coreProperties>
</file>